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ทักทาย เปิดคลาส เล่าเป้าหมาย: จบ 3 ชั่วโมงนี้ ทุกคนต้องกลับไปใช้ AI กับงานตัวเองได้จริง ไม่ใช่แค่รู้จัก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ชี้ว่าครึ่งหลังของคลาสคือลงมือทำล้วนๆ ขอให้ทุกคนเช็คว่ามีไฟล์งานตัวเองพร้อม (แจ้งล่วงหน้าแล้ว)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ช่วงบรรยายเดียวของคลาส ขอ 15 นาที หลังจากนี้ลงมือทำหมด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ยกตัวอย่างใกล้ตัว: ส่งไฟล์สัญญาให้อ่านแทนเรา / ร่างอีเมลตอบลูกค้า ใช้เวลาสาธิตช่วงถัดไป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อย่าเปิดสงครามค่าย — จุดยืน: เครื่องมือไหนก็ได้ หลักการเดียวกัน เราเลือก Claude เพราะทำงานกับไฟล์/โฟลเดอร์ได้ลึกสุด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สไลด์นี้คือแผนที่ของทั้งคลาส — ชี้ว่าเดโม่ถัดไปคือระดับ 2 และท้ายคลาสคือระดับ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พูดตั้งแต่ต้นเพื่อสร้างความเชื่อใจ — เราไม่ได้มาขายฝันว่า AI เพอร์เฟกต์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แจกแจงสีในประโยคตัวอย่างให้ตรงกับ 4 กล่องด้านบน — ประโยคนี้คือ prompt แรกที่จะพิมพ์จริงในเดโม่ถัดไป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 Cowork ชี้โฟลเดอร์ demo-coffee-shop แล้วเดโม่ตามสคริปต์ 3 องก์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เต็มอยู่ใน 02-cowork-demo-script.md — เปิดคู่กันตอนสอน อย่าลืมเปิด Excel เช็คตัวเลข 1 ค่าให้ดูเป็นตัวอย่างการตรวจสอบ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เดินวนช่วยทีละคน — ปัญหาอันดับ 1 คือสั่งสั้นเกินไป ชี้ให้เติมบริบท+รูปแบบผลลัพธ์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ช่วงว้าวของคลาส — เปิด Claude Code ในโฟลเดอร์ที่มี CSV แล้วพิมพ์ prompt ตาม 04-claude-code-case.md ระหว่างรอให้เล่าว่ามันกำลังทำอะไร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ภาพขวาคือ Dashboard ที่สร้างจากข้อมูลร้านจริงในเดโม่ — ถ้าเดโม่สดพลาด เปิด backup-dashboard.html แทน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แจก 05-cheat-sheet.md (พิมพ์เป็นกระดาษ หรือส่งเข้ากลุ่มไลน์)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เก็บคำตอบ 'ระบบที่อยากได้' ของแต่ละคนไว้ — เป็นหัวข้อคลาสถัดไปได้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-685800"/>
            <a:ext cx="1920240" cy="192024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777240" y="5440680"/>
            <a:ext cx="1920240" cy="192024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914400"/>
            <a:ext cx="914400" cy="91440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5" name="Shape 3"/>
          <p:cNvSpPr/>
          <p:nvPr/>
        </p:nvSpPr>
        <p:spPr>
          <a:xfrm>
            <a:off x="10195560" y="5212080"/>
            <a:ext cx="914400" cy="91440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6" name="Shape 4"/>
          <p:cNvSpPr/>
          <p:nvPr/>
        </p:nvSpPr>
        <p:spPr>
          <a:xfrm>
            <a:off x="10881360" y="5943600"/>
            <a:ext cx="914400" cy="914400"/>
          </a:xfrm>
          <a:prstGeom prst="irregularSeal1">
            <a:avLst/>
          </a:prstGeom>
          <a:solidFill>
            <a:srgbClr val="C65E52"/>
          </a:solidFill>
          <a:ln/>
        </p:spPr>
      </p:sp>
      <p:sp>
        <p:nvSpPr>
          <p:cNvPr id="7" name="Shape 5"/>
          <p:cNvSpPr/>
          <p:nvPr/>
        </p:nvSpPr>
        <p:spPr>
          <a:xfrm>
            <a:off x="5591556" y="868680"/>
            <a:ext cx="1005840" cy="100584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3074" y="1130198"/>
            <a:ext cx="482803" cy="482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205740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ใช้ AI ทำงานจริง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731520" y="315468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65E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คอร์สเร่งรัด 3 ชั่วโมง สำหรับคนไม่มีพื้นฐานมาก่อน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431036" y="4251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3BE72"/>
          </a:solidFill>
          <a:ln/>
        </p:spPr>
      </p:sp>
      <p:sp>
        <p:nvSpPr>
          <p:cNvPr id="12" name="Text 9"/>
          <p:cNvSpPr/>
          <p:nvPr/>
        </p:nvSpPr>
        <p:spPr>
          <a:xfrm>
            <a:off x="1431036" y="4251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รู้จักโลก AI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631436" y="4251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3BE72"/>
          </a:solidFill>
          <a:ln/>
        </p:spPr>
      </p:sp>
      <p:sp>
        <p:nvSpPr>
          <p:cNvPr id="14" name="Text 11"/>
          <p:cNvSpPr/>
          <p:nvPr/>
        </p:nvSpPr>
        <p:spPr>
          <a:xfrm>
            <a:off x="4631436" y="4251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Cowork ทำงานกับไฟล์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831836" y="4251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3BE72"/>
          </a:solidFill>
          <a:ln/>
        </p:spPr>
      </p:sp>
      <p:sp>
        <p:nvSpPr>
          <p:cNvPr id="16" name="Text 13"/>
          <p:cNvSpPr/>
          <p:nvPr/>
        </p:nvSpPr>
        <p:spPr>
          <a:xfrm>
            <a:off x="7831836" y="4251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 Code สร้างระบบ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1520" y="58064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เรียนผ่านเคสจริง: ร้านกาแฟ 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วันนี้เราจะทำอะไรกันบ้าง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FBEBD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3A3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0:00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920240" y="137160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ปูพื้นฐาน — โลก AI ตอนนี้เป็นยังไง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0" y="13716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15 นาที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167128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FBEBD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671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3A3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0:15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20240" y="216712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รู้จัก Cowork + สูตรสั่งงาน 4 ส่วน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0" y="21671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15 นาที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62656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AD3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962656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0:30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920240" y="296265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เดโม่สด: เคสร้านกาแฟ (อีเมล • ตารางนัด • ยอดขาย)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961120" y="29626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45 นาที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758184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AD3A3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58184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1:25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920240" y="375818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เวิร์กช็อป: ลองกับไฟล์งานของคุณเอง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0" y="375818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45 นาที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553712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AD3A38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3712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2:10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920240" y="45537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 Code: สั่งสร้างระบบ Dashboard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961120" y="455371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40 นาที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349240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FBEBD0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3492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3A3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2:50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920240" y="534924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สรุป + แจก Cheat Sheet + Q&amp;A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961120" y="534924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10 นาที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32720" y="1371600"/>
            <a:ext cx="1417320" cy="4663440"/>
          </a:xfrm>
          <a:prstGeom prst="roundRect">
            <a:avLst>
              <a:gd name="adj" fmla="val 7742"/>
            </a:avLst>
          </a:prstGeom>
          <a:solidFill>
            <a:srgbClr val="AD3A38"/>
          </a:solidFill>
          <a:ln/>
        </p:spPr>
      </p:sp>
      <p:sp>
        <p:nvSpPr>
          <p:cNvPr id="30" name="Text 28"/>
          <p:cNvSpPr/>
          <p:nvPr/>
        </p:nvSpPr>
        <p:spPr>
          <a:xfrm>
            <a:off x="10332720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CB64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3</a:t>
            </a:r>
            <a:endParaRPr lang="en-US" sz="6000" dirty="0"/>
          </a:p>
        </p:txBody>
      </p:sp>
      <p:sp>
        <p:nvSpPr>
          <p:cNvPr id="31" name="Text 29"/>
          <p:cNvSpPr/>
          <p:nvPr/>
        </p:nvSpPr>
        <p:spPr>
          <a:xfrm>
            <a:off x="10332720" y="35661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EBD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ชั่วโมง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BEBD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จบในครั้งเดียว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5989320"/>
            <a:ext cx="868680" cy="868680"/>
          </a:xfrm>
          <a:prstGeom prst="irregularSeal1">
            <a:avLst/>
          </a:prstGeom>
          <a:solidFill>
            <a:srgbClr val="C65E5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5E52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ช่วงที่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โลก AI ตอนนี้เป็นยังไง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15 นาที — ไม่มีศัพท์เทคนิค สัญญา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AI ยุคนี้ = ผู้ช่วยที่คุยด้วยภาษาคนได้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ไม่ใช่หุ่นยนต์ ไม่ใช่ Google — พิมพ์คุยเหมือนคุยกับเพื่อนร่วมงานคนหนึ่ง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2606040" cy="356616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</p:spPr>
      </p:sp>
      <p:sp>
        <p:nvSpPr>
          <p:cNvPr id="7" name="Shape 5"/>
          <p:cNvSpPr/>
          <p:nvPr/>
        </p:nvSpPr>
        <p:spPr>
          <a:xfrm>
            <a:off x="1581912" y="237744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107" y="2567635"/>
            <a:ext cx="351130" cy="3511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291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อ่าน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68680" y="38862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เอกสาร สัญญา อีเมล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ยาวแค่ไหนก็ไหว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474720" y="1965960"/>
            <a:ext cx="2606040" cy="356616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</p:spPr>
      </p:sp>
      <p:sp>
        <p:nvSpPr>
          <p:cNvPr id="12" name="Shape 9"/>
          <p:cNvSpPr/>
          <p:nvPr/>
        </p:nvSpPr>
        <p:spPr>
          <a:xfrm>
            <a:off x="4416552" y="237744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747" y="256763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3291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เขียน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3703320" y="38862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สรุป ร่างอีเมล แปลภาษา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ปรับโทนได้ตามสั่ง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309360" y="1965960"/>
            <a:ext cx="2606040" cy="356616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</p:spPr>
      </p:sp>
      <p:sp>
        <p:nvSpPr>
          <p:cNvPr id="17" name="Shape 13"/>
          <p:cNvSpPr/>
          <p:nvPr/>
        </p:nvSpPr>
        <p:spPr>
          <a:xfrm>
            <a:off x="7251192" y="237744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1387" y="256763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09360" y="3291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คิด</a:t>
            </a:r>
            <a:endParaRPr lang="en-US" sz="2100" dirty="0"/>
          </a:p>
        </p:txBody>
      </p:sp>
      <p:sp>
        <p:nvSpPr>
          <p:cNvPr id="20" name="Text 15"/>
          <p:cNvSpPr/>
          <p:nvPr/>
        </p:nvSpPr>
        <p:spPr>
          <a:xfrm>
            <a:off x="6537960" y="38862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วิเคราะห์ข้อมูล เสนอไอเดีย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ช่วยตัดสินใจ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9144000" y="1965960"/>
            <a:ext cx="2606040" cy="356616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</p:spPr>
      </p:sp>
      <p:sp>
        <p:nvSpPr>
          <p:cNvPr id="22" name="Shape 17"/>
          <p:cNvSpPr/>
          <p:nvPr/>
        </p:nvSpPr>
        <p:spPr>
          <a:xfrm>
            <a:off x="10085832" y="237744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6027" y="2567635"/>
            <a:ext cx="351130" cy="35113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144000" y="3291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ลงมือทำ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9372600" y="38862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จัดไฟล์ สร้างรายงาน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เขียนโปรแกรม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40080" y="5897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65E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จุดเปลี่ยนสำคัญ: จากที่เราต้องเรียนรู้วิธีใช้โปรแกรม → ตอนนี้โปรแกรมเข้าใจภาษาเรา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ค่ายหลักที่ควรรู้จัก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3291840"/>
          </a:xfrm>
          <a:prstGeom prst="roundRect">
            <a:avLst>
              <a:gd name="adj" fmla="val 4912"/>
            </a:avLst>
          </a:prstGeom>
          <a:solidFill>
            <a:srgbClr val="AD3A3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CB64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Anthropic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BEBD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เก่งงานเอกสารและไฟล์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BEBD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มี Cowork + Claude Code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BEBD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(ที่เราใช้วันนี้)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606040" cy="329184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ChatGPT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74720" y="2331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OpenAI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8803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คนใช้เยอะที่สุด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รู้จักแพร่หลายที่สุด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1463040"/>
            <a:ext cx="2606040" cy="329184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Gemini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09360" y="2331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Google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28803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ผูกกับ Gmail,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Google Docs / Sheets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144000" y="1463040"/>
            <a:ext cx="2606040" cy="329184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Copilot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44000" y="2331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Microsoft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0" y="28803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ฝังใน Word, Excel,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Teams, Windows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212080"/>
            <a:ext cx="10927080" cy="1051560"/>
          </a:xfrm>
          <a:prstGeom prst="roundRect">
            <a:avLst>
              <a:gd name="adj" fmla="val 10435"/>
            </a:avLst>
          </a:prstGeom>
          <a:solidFill>
            <a:srgbClr val="FBEBD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21208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7A3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ข่าวดี: </a:t>
            </a:r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ทุกค่ายใช้หลักการเดียวกัน — เรียนวิธีสั่งงานครั้งเดียว ใช้ได้ทุกค่าย วันนี้เราเรียนผ่าน Claude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การใช้ AI มี 3 ระดับ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9509760" cy="1234440"/>
          </a:xfrm>
          <a:prstGeom prst="roundRect">
            <a:avLst>
              <a:gd name="adj" fmla="val 10370"/>
            </a:avLst>
          </a:prstGeom>
          <a:solidFill>
            <a:srgbClr val="FBEBD0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73352"/>
            <a:ext cx="713232" cy="713232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20" y="185879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157276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ระดับ 1 — ถาม-ตอบ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828800" y="202996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แชทในเว็บ/แอป: แปล สรุป ร่างข้อความ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909560" y="1399032"/>
            <a:ext cx="2194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ทุกคนเริ่มตรงนี้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143000" y="2880360"/>
            <a:ext cx="9509760" cy="1234440"/>
          </a:xfrm>
          <a:prstGeom prst="roundRect">
            <a:avLst>
              <a:gd name="adj" fmla="val 10370"/>
            </a:avLst>
          </a:prstGeom>
          <a:solidFill>
            <a:srgbClr val="F3BE72"/>
          </a:solidFill>
          <a:ln/>
        </p:spPr>
      </p:sp>
      <p:sp>
        <p:nvSpPr>
          <p:cNvPr id="12" name="Shape 9"/>
          <p:cNvSpPr/>
          <p:nvPr/>
        </p:nvSpPr>
        <p:spPr>
          <a:xfrm>
            <a:off x="1371600" y="3136392"/>
            <a:ext cx="713232" cy="713232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040" y="3321832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331720" y="303580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ระดับ 2 — ทำงานกับไฟล์ในเครื่องเรา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2331720" y="349300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2C1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Cowork: อ่านโฟลเดอร์ สรุปอีเมล วิเคราะห์ Excel สร้างรายงาน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8412480" y="2862072"/>
            <a:ext cx="2194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523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★ วันนี้เน้นตรงนี้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645920" y="4343400"/>
            <a:ext cx="9509760" cy="1234440"/>
          </a:xfrm>
          <a:prstGeom prst="roundRect">
            <a:avLst>
              <a:gd name="adj" fmla="val 10370"/>
            </a:avLst>
          </a:prstGeom>
          <a:solidFill>
            <a:srgbClr val="AD3A38"/>
          </a:solidFill>
          <a:ln/>
        </p:spPr>
      </p:sp>
      <p:sp>
        <p:nvSpPr>
          <p:cNvPr id="18" name="Shape 14"/>
          <p:cNvSpPr/>
          <p:nvPr/>
        </p:nvSpPr>
        <p:spPr>
          <a:xfrm>
            <a:off x="1874520" y="4599432"/>
            <a:ext cx="713232" cy="713232"/>
          </a:xfrm>
          <a:prstGeom prst="ellipse">
            <a:avLst/>
          </a:prstGeom>
          <a:solidFill>
            <a:srgbClr val="7A252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9960" y="4784872"/>
            <a:ext cx="342351" cy="34235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834640" y="44988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ระดับ 3 — สร้างระบบให้เรา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2834640" y="49560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EBD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 Code: เขียนโปรแกรม สร้าง Dashboard สร้างเว็บ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8915400" y="4325112"/>
            <a:ext cx="2194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CB64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แถมท้ายคลาส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40080" y="59436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65E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ยิ่งขึ้นระดับ ยิ่งทำงานแทนเราได้มากขึ้น — แต่วิธีสั่งเหมือนเดิม: พิมพ์ภาษาคน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ข้อควรระวัง 3 ข้อ — ท่องไว้ก่อนเริ่มใช้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927080" cy="1325880"/>
          </a:xfrm>
          <a:prstGeom prst="roundRect">
            <a:avLst>
              <a:gd name="adj" fmla="val 9655"/>
            </a:avLst>
          </a:prstGeom>
          <a:solidFill>
            <a:srgbClr val="FBEBD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847088"/>
            <a:ext cx="731520" cy="7315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2037283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173736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ตอบผิดได้อย่างมั่นใจ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920240" y="224028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โดยเฉพาะตัวเลข ชื่อคน วันที่ — ตรวจกับไฟล์จริงก่อนใช้เสมอ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3108960"/>
            <a:ext cx="10927080" cy="1325880"/>
          </a:xfrm>
          <a:prstGeom prst="roundRect">
            <a:avLst>
              <a:gd name="adj" fmla="val 9655"/>
            </a:avLst>
          </a:prstGeom>
          <a:solidFill>
            <a:srgbClr val="FBEBD0"/>
          </a:solidFill>
          <a:ln/>
        </p:spPr>
      </p:sp>
      <p:sp>
        <p:nvSpPr>
          <p:cNvPr id="11" name="Shape 8"/>
          <p:cNvSpPr/>
          <p:nvPr/>
        </p:nvSpPr>
        <p:spPr>
          <a:xfrm>
            <a:off x="914400" y="3401568"/>
            <a:ext cx="731520" cy="731520"/>
          </a:xfrm>
          <a:prstGeom prst="ellipse">
            <a:avLst/>
          </a:prstGeom>
          <a:solidFill>
            <a:srgbClr val="B9770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" y="3591763"/>
            <a:ext cx="351130" cy="3511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920240" y="329184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คิดก่อนอัปโหลด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1920240" y="379476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ข้อมูลลับ ข้อมูลส่วนตัวลูกค้า เงินเดือน — ใช้ตามนโยบายที่ทำงาน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4663440"/>
            <a:ext cx="10927080" cy="1325880"/>
          </a:xfrm>
          <a:prstGeom prst="roundRect">
            <a:avLst>
              <a:gd name="adj" fmla="val 9655"/>
            </a:avLst>
          </a:prstGeom>
          <a:solidFill>
            <a:srgbClr val="FBEBD0"/>
          </a:solidFill>
          <a:ln/>
        </p:spPr>
      </p:sp>
      <p:sp>
        <p:nvSpPr>
          <p:cNvPr id="16" name="Shape 12"/>
          <p:cNvSpPr/>
          <p:nvPr/>
        </p:nvSpPr>
        <p:spPr>
          <a:xfrm>
            <a:off x="914400" y="4956048"/>
            <a:ext cx="731520" cy="731520"/>
          </a:xfrm>
          <a:prstGeom prst="ellipse">
            <a:avLst/>
          </a:prstGeom>
          <a:solidFill>
            <a:srgbClr val="4B7A3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" y="5146243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920240" y="484632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คนตัดสินใจ ไม่ใช่ AI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1920240" y="534924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เตรียมข้อมูลให้ แต่การตัดสินใจและความรับผิดชอบเป็นของเรา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6263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เราจะย้ำ 3 ข้อนี้อีกครั้งตอนเดโม่ — เห็นของจริงแล้วจะเข้าใจว่าทำไมสำคัญ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สูตรสั่งงาน 4 ส่วน — ท่าเดียวที่ต้องจำ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2487168" cy="1737360"/>
          </a:xfrm>
          <a:prstGeom prst="roundRect">
            <a:avLst>
              <a:gd name="adj" fmla="val 7368"/>
            </a:avLst>
          </a:prstGeom>
          <a:solidFill>
            <a:srgbClr val="AD3A3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00200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บทบาท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คุณเป็นใคร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ให้ AI สวมหมวกไหน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27248" y="19202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+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493008" y="1417320"/>
            <a:ext cx="2487168" cy="1737360"/>
          </a:xfrm>
          <a:prstGeom prst="roundRect">
            <a:avLst>
              <a:gd name="adj" fmla="val 7368"/>
            </a:avLst>
          </a:prstGeom>
          <a:solidFill>
            <a:srgbClr val="C65E52"/>
          </a:solidFill>
          <a:ln/>
        </p:spPr>
      </p:sp>
      <p:sp>
        <p:nvSpPr>
          <p:cNvPr id="10" name="Text 8"/>
          <p:cNvSpPr/>
          <p:nvPr/>
        </p:nvSpPr>
        <p:spPr>
          <a:xfrm>
            <a:off x="3493008" y="1600200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งาน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30168" y="214884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ให้ทำอะไร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ชัดๆ 1 อย่าง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80176" y="19202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+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345936" y="1417320"/>
            <a:ext cx="2487168" cy="1737360"/>
          </a:xfrm>
          <a:prstGeom prst="roundRect">
            <a:avLst>
              <a:gd name="adj" fmla="val 7368"/>
            </a:avLst>
          </a:prstGeom>
          <a:solidFill>
            <a:srgbClr val="D98E3F"/>
          </a:solidFill>
          <a:ln/>
        </p:spPr>
      </p:sp>
      <p:sp>
        <p:nvSpPr>
          <p:cNvPr id="14" name="Text 12"/>
          <p:cNvSpPr/>
          <p:nvPr/>
        </p:nvSpPr>
        <p:spPr>
          <a:xfrm>
            <a:off x="6345936" y="1600200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บริบท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83096" y="214884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ทำไปเพื่ออะไร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ใครจะเอาไปใช้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33104" y="19202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+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9198864" y="1417320"/>
            <a:ext cx="2487168" cy="1737360"/>
          </a:xfrm>
          <a:prstGeom prst="roundRect">
            <a:avLst>
              <a:gd name="adj" fmla="val 7368"/>
            </a:avLst>
          </a:prstGeom>
          <a:solidFill>
            <a:srgbClr val="4B7A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98864" y="1600200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รูปแบบ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336024" y="214884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อยากได้หน้าตาแบบไหน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ตาราง? กี่ข้อ? ภาษาอะไร?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520440"/>
            <a:ext cx="10927080" cy="1783080"/>
          </a:xfrm>
          <a:prstGeom prst="roundRect">
            <a:avLst>
              <a:gd name="adj" fmla="val 7179"/>
            </a:avLst>
          </a:prstGeom>
          <a:solidFill>
            <a:srgbClr val="AD3A38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520440"/>
            <a:ext cx="10195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CB64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“คุณเป็นผู้ช่วยเจ้าของร้าน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ช่วยสรุปอีเมลทั้งหมดในโฟลเดอร์นี้ </a:t>
            </a:r>
            <a:pPr indent="0" marL="0">
              <a:buNone/>
            </a:pPr>
            <a:r>
              <a:rPr lang="en-US" sz="1700" dirty="0">
                <a:solidFill>
                  <a:srgbClr val="F3C8B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ผมเป็นเจ้าของร้านกาแฟ ไม่มีเวลาอ่านทีละฉบับ </a:t>
            </a:r>
            <a:pPr indent="0" marL="0">
              <a:buNone/>
            </a:pPr>
            <a:r>
              <a:rPr lang="en-US" sz="1700" dirty="0">
                <a:solidFill>
                  <a:srgbClr val="CFE3B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ขอเป็นตาราง เรียงตามความด่วน พร้อมบอกว่าต้องทำอะไรต่อ”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56235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3A3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กฎทอง: </a:t>
            </a:r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ผลลัพธ์ไม่ถูกใจ → พิมพ์บอกให้แก้ต่อได้เลย ไม่ต้องเริ่มใหม่  |  คิดไม่ออก → ถามมันว่า “ช่วยอะไรฉันได้บ้าง”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5989320"/>
            <a:ext cx="868680" cy="868680"/>
          </a:xfrm>
          <a:prstGeom prst="irregularSeal1">
            <a:avLst/>
          </a:prstGeom>
          <a:solidFill>
            <a:srgbClr val="C65E5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5E52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ช่วงที่ 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เดโม่สด: ร้าน “บ้านกาแฟหอมละมุน”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สมมติว่าเราเป็นเจ้าของร้าน — เช้านี้มีอีเมลค้าง 4 ฉบับ และไม่รู้เลยว่าเดือนที่แล้วร้านเป็นยังไง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587" y="3918387"/>
            <a:ext cx="228234" cy="2282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8760" y="37947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products.xlsx — เมนู 14 รายการ พร้อมต้นทุน-ราคาขาย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22960" y="450799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587" y="4631619"/>
            <a:ext cx="228234" cy="2282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08760" y="45079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customers.xlsx — สมาชิกสะสมแต้ม 25 คน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22960" y="5221224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587" y="5344851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5221224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sales.xlsx — ยอดขาย 1,030 บิล (มิ.ย. – ก.ค.)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822960" y="5934456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587" y="6058083"/>
            <a:ext cx="228234" cy="22823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593445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emails/ — อีเมลเข้า 4 ฉบับ รอจัดการ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เดโม่ 3 องก์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0927080" cy="1463040"/>
          </a:xfrm>
          <a:prstGeom prst="roundRect">
            <a:avLst>
              <a:gd name="adj" fmla="val 8750"/>
            </a:avLst>
          </a:prstGeom>
          <a:solidFill>
            <a:srgbClr val="FBEBD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73736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1927555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150876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1. ให้ Claude สำรวจโฟลเดอร์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920240" y="19659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D3A3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“อ่านไฟล์ทั้งหมด แล้วเล่าว่าร้านนี้ทำธุรกิจอะไร”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920240" y="2377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มันเปิดอ่านเองทุกไฟล์ โดยเราไม่ต้องเปิดสักไฟล์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927080" cy="1463040"/>
          </a:xfrm>
          <a:prstGeom prst="roundRect">
            <a:avLst>
              <a:gd name="adj" fmla="val 8750"/>
            </a:avLst>
          </a:prstGeom>
          <a:solidFill>
            <a:srgbClr val="FBEBD0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342900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" y="361919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920240" y="32004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2. สรุปอีเมล + ทำตารางนัด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920240" y="365760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D3A3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“สรุปอีเมล 4 ฉบับ เรียงตามความด่วน แล้วดึงเดดไลน์ทำ schedule.md”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1920240" y="406908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มีเดดไลน์ชนกันซ่อนอยู่ — ดูซิว่ามันจับได้ไหม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4754880"/>
            <a:ext cx="10927080" cy="1463040"/>
          </a:xfrm>
          <a:prstGeom prst="roundRect">
            <a:avLst>
              <a:gd name="adj" fmla="val 8750"/>
            </a:avLst>
          </a:prstGeom>
          <a:solidFill>
            <a:srgbClr val="FBEBD0"/>
          </a:solidFill>
          <a:ln/>
        </p:spPr>
      </p:sp>
      <p:sp>
        <p:nvSpPr>
          <p:cNvPr id="18" name="Shape 14"/>
          <p:cNvSpPr/>
          <p:nvPr/>
        </p:nvSpPr>
        <p:spPr>
          <a:xfrm>
            <a:off x="914400" y="512064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" y="531083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920240" y="489204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3. วิเคราะห์ยอดขาย + สร้างรายงาน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920240" y="5349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D3A3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“เมนูไหนขายดี? เมนูไหนกำไรดี? ช่องทางไหนโต? สรุปเป็น report.md”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1920240" y="576072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เฉลย: ขายดีสุด ≠ กำไรดีสุด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ถึงตาคุณ — เวิร์กช็อป 45 นาที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39903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99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37160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สร้างโฟลเดอร์ my-workshop บน Desktop แล้วลากไฟล์งานของคุณใส่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13055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305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210312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เปิด Cowork ชี้ไปที่โฟลเดอร์นั้น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86207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862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283464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prompt แรก: “อ่านไฟล์ในโฟลเดอร์นี้ แล้วบอกว่าช่วยอะไรฉันได้บ้าง”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59359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935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356616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เลือกไอเดียที่มันเสนอ 1 อย่าง แล้วสั่งด้วยสูตร 4 ส่วน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25880" y="429768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ไม่ถูกใจ → สั่งแก้อย่างน้อย 2 รอบ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05663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56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25880" y="502920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ปิดท้าย: ให้มันสร้างไฟล์ผลลัพธ์เก็บไว้ (รายงาน / Excel)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595360" y="1371600"/>
            <a:ext cx="3154680" cy="4206240"/>
          </a:xfrm>
          <a:prstGeom prst="roundRect">
            <a:avLst>
              <a:gd name="adj" fmla="val 4058"/>
            </a:avLst>
          </a:prstGeom>
          <a:solidFill>
            <a:srgbClr val="AD3A38"/>
          </a:solidFill>
          <a:ln/>
        </p:spPr>
      </p:sp>
      <p:sp>
        <p:nvSpPr>
          <p:cNvPr id="24" name="Text 22"/>
          <p:cNvSpPr/>
          <p:nvPr/>
        </p:nvSpPr>
        <p:spPr>
          <a:xfrm>
            <a:off x="8869680" y="1645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B64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ไม่ได้เอาไฟล์มา?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21488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BEBD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ใช้โฟลเดอร์ร้านกาแฟได้เลย มีโจทย์ให้ 3 ระดับ: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869680" y="283464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CFE3B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ง่าย: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BEBD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ข้อความขอบคุณลูกค้าแต้มสูงสุด 5 คน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CB64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กลาง: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BEBD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ร่างใบเสนอราคาบูธ 18,000 บาท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3C8B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ยาก: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BEBD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ออกแบบโปรฯ ช่วงบ่ายจากข้อมูลจริง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" y="5989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65E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10 นาทีสุดท้าย: อาสาสมัคร 2–3 คน โชว์ผลงานหน้าห้อง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5989320"/>
            <a:ext cx="868680" cy="868680"/>
          </a:xfrm>
          <a:prstGeom prst="irregularSeal1">
            <a:avLst/>
          </a:prstGeom>
          <a:solidFill>
            <a:srgbClr val="C65E5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5E52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ช่วงที่ 3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Claude Code: สั่งสร้างระบบเองได้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เพื่อนเจ้าของร้านกาแฟบ่นว่า “อยากมี Dashboard สวยๆ แบบร้านใหญ่ แต่จ้างคนทำโปรแกรมก็แพง” — งั้นสร้างกันตรงนี้เลย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จากไฟล์ Excel ธรรมดา → ระบบใช้งานจริง</a:t>
            </a:r>
            <a:endParaRPr lang="en-US" sz="3000" dirty="0"/>
          </a:p>
        </p:txBody>
      </p:sp>
      <p:pic>
        <p:nvPicPr>
          <p:cNvPr id="5" name="Image 0" descr="/tmp/claude-0/-home-user-sookkaya-dashboard/c6122b49-f379-56ef-bd1e-c7a902602563/scratchpad/dashboard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54480"/>
            <a:ext cx="5577840" cy="3483864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989320" y="51206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Dashboard ที่สร้างจากข้อมูลร้านในเดโม่เมื่อกี้ — ของจริง ไม่ใช่ภาพตัวอย่าง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4B7A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733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144475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ใช้เวลา ~15 นาที ไม่เขียนโค้ดเองสักบรรทัด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4B7A3C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72491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249631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สั่งแก้ต่อได้ด้วยภาษาคน: “เพิ่มช่องค้นหาสมาชิก” “เปลี่ยนเป็นโหมดมืด”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4B7A3C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776472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80160" y="354787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ระบบจริงจังกว่านี้ (เชื่อม POS, หลายสาขา) ก็เริ่มจากการคุยแบบเดียวกัน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" y="4892040"/>
            <a:ext cx="5029200" cy="1508760"/>
          </a:xfrm>
          <a:prstGeom prst="roundRect">
            <a:avLst>
              <a:gd name="adj" fmla="val 8485"/>
            </a:avLst>
          </a:prstGeom>
          <a:solidFill>
            <a:srgbClr val="FBEBD0"/>
          </a:solidFill>
          <a:ln/>
        </p:spPr>
      </p:sp>
      <p:sp>
        <p:nvSpPr>
          <p:cNvPr id="17" name="Text 11"/>
          <p:cNvSpPr/>
          <p:nvPr/>
        </p:nvSpPr>
        <p:spPr>
          <a:xfrm>
            <a:off x="914400" y="4892040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D3A38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คำถามกลับบ้าน:
</a:t>
            </a:r>
            <a:pPr indent="0" marL="0">
              <a:buNone/>
            </a:pPr>
            <a:r>
              <a:rPr lang="en-US" sz="1400" i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“ระบบอะไรในงานของคุณ ที่อยากได้มานาน แต่คิดว่าต้องจ้างคนทำ?”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3 อย่างที่ขอให้จำออกไปจากห้องนี้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0" y="1920240"/>
            <a:ext cx="777240" cy="77724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3762" y="212232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สูตร 4 ส่วน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34747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บทบาท + งาน + บริบท + รูปแบบผลลัพธ์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70832" y="1554480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742432" y="1920240"/>
            <a:ext cx="777240" cy="777240"/>
          </a:xfrm>
          <a:prstGeom prst="ellipse">
            <a:avLst/>
          </a:prstGeom>
          <a:solidFill>
            <a:srgbClr val="C65E5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14" y="212232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70832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กฎทอง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645152" y="34747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ไม่ถูกใจ → สั่งแก้ต่อ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คิดไม่ออก → ถามมันว่าช่วยอะไรได้บ้าง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01584" y="1554480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473184" y="1920240"/>
            <a:ext cx="777240" cy="777240"/>
          </a:xfrm>
          <a:prstGeom prst="ellipse">
            <a:avLst/>
          </a:prstGeom>
          <a:solidFill>
            <a:srgbClr val="4B7A3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5266" y="2122322"/>
            <a:ext cx="373075" cy="37307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01584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ระวัง 3 ข้อ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375904" y="34747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ตรวจก่อนใช้ • คิดก่อนอัปโหลด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คนตัดสินใจ ไม่ใช่ AI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40080" y="5257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65E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ทั้งหมดนี้อยู่ใน Cheat Sheet ที่แจก — แปะไว้ข้างจอได้เลย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-685800"/>
            <a:ext cx="1920240" cy="192024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777240" y="5440680"/>
            <a:ext cx="1920240" cy="192024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914400"/>
            <a:ext cx="914400" cy="91440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5" name="Shape 3"/>
          <p:cNvSpPr/>
          <p:nvPr/>
        </p:nvSpPr>
        <p:spPr>
          <a:xfrm>
            <a:off x="10195560" y="5212080"/>
            <a:ext cx="914400" cy="91440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6" name="Shape 4"/>
          <p:cNvSpPr/>
          <p:nvPr/>
        </p:nvSpPr>
        <p:spPr>
          <a:xfrm>
            <a:off x="10881360" y="5943600"/>
            <a:ext cx="914400" cy="914400"/>
          </a:xfrm>
          <a:prstGeom prst="irregularSeal1">
            <a:avLst/>
          </a:prstGeom>
          <a:solidFill>
            <a:srgbClr val="C65E5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D3A38"/>
                </a:solidFill>
                <a:latin typeface="Chonburi" pitchFamily="34" charset="0"/>
                <a:ea typeface="Chonburi" pitchFamily="34" charset="-122"/>
                <a:cs typeface="Chonburi" pitchFamily="34" charset="-120"/>
              </a:rPr>
              <a:t>การบ้าน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ใช้ AI กับงานจริงของคุณ 3 ครั้ง ภายในสัปดาห์นี้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6F57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แล้วมาเล่าในกลุ่มไลน์ว่า อันไหนเวิร์ก อันไหนไม่เวิร์ก — ตัวอย่างจากเพื่อนคือครูที่ดีที่สุด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463040" y="379476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FBEBD0"/>
          </a:solidFill>
          <a:ln/>
          <a:effectLst>
            <a:outerShdw sx="100000" sy="100000" kx="0" ky="0" algn="bl" rotWithShape="0" blurRad="635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0" y="3977640"/>
            <a:ext cx="502920" cy="5029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3959" y="4108399"/>
            <a:ext cx="241402" cy="24140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0020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เข้ากลุ่มไลน์คลาส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709160" y="379476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FBEBD0"/>
          </a:solidFill>
          <a:ln/>
          <a:effectLst>
            <a:outerShdw sx="100000" sy="100000" kx="0" ky="0" algn="bl" rotWithShape="0" blurRad="63500" dist="254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989320" y="3977640"/>
            <a:ext cx="502920" cy="5029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79" y="4108399"/>
            <a:ext cx="241402" cy="24140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84632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โหลดโฟลเดอร์เดโม่ไปลองต่อ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955280" y="379476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FBEBD0"/>
          </a:solidFill>
          <a:ln/>
          <a:effectLst>
            <a:outerShdw sx="100000" sy="100000" kx="0" ky="0" algn="bl" rotWithShape="0" blurRad="63500" dist="25400" dir="5400000">
              <a:srgbClr val="000000">
                <a:alpha val="1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235440" y="3977640"/>
            <a:ext cx="502920" cy="5029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6199" y="4108399"/>
            <a:ext cx="241402" cy="24140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0924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242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Cheat Sheet อยู่ในมือแล้ว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65E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ขอบคุณครับ ☕ มีคำถามถามได้เลย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2026-07-24T07:47:20Z</dcterms:created>
  <dcterms:modified xsi:type="dcterms:W3CDTF">2026-07-24T07:47:20Z</dcterms:modified>
</cp:coreProperties>
</file>